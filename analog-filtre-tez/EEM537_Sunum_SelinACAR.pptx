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EF4FF"/>
                </a:solidFill>
                <a:latin typeface="Calibri"/>
              </a:rPr>
              <a:t>T.C. DOĞUŞ ÜNİVERSİTESİ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EF4FF"/>
                </a:solidFill>
                <a:latin typeface="Calibri"/>
              </a:rPr>
              <a:t>Lisansüstü Eğitim Enstitüsü — Elektrik-Elektronik Mühendisliği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EF4FF"/>
                </a:solidFill>
                <a:latin typeface="Calibri"/>
              </a:rPr>
              <a:t>EEM 537 – ANALOG FİLTRELER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Analog ve Kesirli Dereceden Filtreler:</a:t>
            </a:r>
          </a:p>
          <a:p>
            <a:pPr algn="ctr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Sensör Sinyallerinin Koşullandırılması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EF4FF"/>
                </a:solidFill>
                <a:latin typeface="Calibri"/>
              </a:rPr>
              <a:t>Tez Hazırlık Sunumu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EF4FF"/>
                </a:solidFill>
                <a:latin typeface="Calibri"/>
              </a:rPr>
              <a:t>Hazırlayan: Selin AÇAR  (202591073001)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EF4FF"/>
                </a:solidFill>
                <a:latin typeface="Calibri"/>
              </a:rPr>
              <a:t>Danışman: Prof. Dr. Şahram MİNAYİ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EEF4FF"/>
                </a:solidFill>
                <a:latin typeface="Calibri"/>
              </a:rPr>
              <a:t>İstanbul,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Sunum Planı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Giriş ve motivasyon — sensör sinyali neden filtre ister?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Amaç ve araştırma sorusu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Filtre temelleri: tanım, türler, yaklaşım aileleri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Dereceye göre yapılar: 1./2./3. ve kesirli dereceden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Topolojiler ve duyarlılık (sensitivity)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Gürültü ve SNR hesapları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Literatürde önemli isimler — özel odak: Giuseppe Ferri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İncelenen üç sensör ve deneysel yaklaşım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Özgünlük, plan ve TÜBİTAK bağlantısı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1. Giriş ve Motivasyon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Filtre: işaretin frekans bileşenlerini seçici biçimde geçiren/zayıflatan doğrusal sistem.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Sensör ölçüm zincirinde filtrenin görevleri: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Bant sınırlama ile gürültü bastırma → SNR artışı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Darbe sensörlerinde şekillendirme (pulse shaping)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ADC öncesi anti-aliasing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Belirli girişimleri (örn. 50 Hz) çentik ile atma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Klasik filtreler yalnızca −20/−40/−60 dB/dek ayrık eğim sunar.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Kesirli dereceden filtreler: eğimi SÜREKLİ ayarlama → "ihtiyaca uygun" tasarım.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2. Amaç ve Araştırma Sorusu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A6A"/>
                </a:solidFill>
                <a:latin typeface="Calibri"/>
              </a:rPr>
              <a:t>Araştırma sorusu: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515600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700" b="1">
                <a:solidFill>
                  <a:srgbClr val="1A1A6A"/>
                </a:solidFill>
                <a:latin typeface="Consolas"/>
              </a:rPr>
              <a:t>Kesirli dereceden (1+α) bir analog şekillendirme filtresi;</a:t>
            </a:r>
          </a:p>
          <a:p>
            <a:r>
              <a:rPr sz="1700" b="1">
                <a:solidFill>
                  <a:srgbClr val="1A1A6A"/>
                </a:solidFill>
                <a:latin typeface="Consolas"/>
              </a:rPr>
              <a:t>klasik (CR-RC^n, Bessel) şekillendiricilere göre sensör sinyalinde</a:t>
            </a:r>
          </a:p>
          <a:p>
            <a:r>
              <a:rPr sz="1700" b="1">
                <a:solidFill>
                  <a:srgbClr val="1A1A6A"/>
                </a:solidFill>
                <a:latin typeface="Consolas"/>
              </a:rPr>
              <a:t>SNR/ENC, grup gecikmesi ve darbe ayrışımı (pile-up) açısından</a:t>
            </a:r>
          </a:p>
          <a:p>
            <a:r>
              <a:rPr sz="1700" b="1">
                <a:solidFill>
                  <a:srgbClr val="1A1A6A"/>
                </a:solidFill>
                <a:latin typeface="Consolas"/>
              </a:rPr>
              <a:t>ÖLÇÜLEBİLİR bir kazanım sağlar mı?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A1A6A"/>
                </a:solidFill>
                <a:latin typeface="Calibri"/>
              </a:rPr>
              <a:t>Hipotez: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Eğimin sürekli ayarlanabilmesi (−20α dB/dek), aynı gürültü bastırması için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daha düşük grup gecikmesi ve/veya daha az aktif eleman ile hedef ENC seviyesine ulaştırır.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3. Filtre Temelleri: Tanım ve Türler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Transfer fonksiyonu: H(s) = N(s)/D(s) ; derece n → eğim −20·n dB/dek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Karakteristik parametreler: ωc, kalite faktörü Q, dalgalanma, grup gecikmesi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Filtre türleri: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Alçak geçiren (LPF) / Yüksek geçiren (HPF)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Bant geçiren (BPF) / Bant söndüren–çentik (BSF)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Tüm geçiren (all-pass): yalnız faz/grup gecikmesini düzenler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600" b="1">
                <a:solidFill>
                  <a:srgbClr val="1A1A6A"/>
                </a:solidFill>
                <a:latin typeface="Consolas"/>
              </a:rPr>
              <a:t>H(s) = (b_m s^m + ... + b_0) / (a_n s^n + ... + a_0)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3. Yaklaşım Aileleri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Aile</a:t>
                      </a:r>
                    </a:p>
                  </a:txBody>
                  <a:tcPr>
                    <a:solidFill>
                      <a:srgbClr val="1A1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Genlik</a:t>
                      </a:r>
                    </a:p>
                  </a:txBody>
                  <a:tcPr>
                    <a:solidFill>
                      <a:srgbClr val="1A1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Geçiş keskinliği</a:t>
                      </a:r>
                    </a:p>
                  </a:txBody>
                  <a:tcPr>
                    <a:solidFill>
                      <a:srgbClr val="1A1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Grup gecikmesi</a:t>
                      </a:r>
                    </a:p>
                  </a:txBody>
                  <a:tcPr>
                    <a:solidFill>
                      <a:srgbClr val="1A1A6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Butterworth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maksimum düz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orta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Chebyshev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geçişte dalgalı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yüksek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kötü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Bessel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yumuşak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düşük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EN DÜZ (darbe!)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Eliptik (Cauer)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her iki bantta dalga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EN YÜKSEK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en kötü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500" b="1">
                <a:solidFill>
                  <a:srgbClr val="1A1A6A"/>
                </a:solidFill>
                <a:latin typeface="Consolas"/>
              </a:rPr>
              <a:t>Butterworth: |H|^2 = 1/(1+(w/wc)^(2n))      Chebyshev: 1/(1+e^2 Tn^2(w/wc))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6A"/>
                </a:solidFill>
                <a:latin typeface="Calibri"/>
              </a:rPr>
              <a:t>Darbe tabanlı sensörler (PMT) için aşma yapmayan, faz-lineer Bessel öne çıkar.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4. Dereceye Göre Yapılar (1. / 2. / 3.)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600" b="1">
                <a:solidFill>
                  <a:srgbClr val="1A1A6A"/>
                </a:solidFill>
                <a:latin typeface="Consolas"/>
              </a:rPr>
              <a:t>1. derece:  H = wc/(s+wc)            eğim -20 dB/dek, faz -45 derece</a:t>
            </a:r>
          </a:p>
          <a:p>
            <a:r>
              <a:rPr sz="1600" b="1">
                <a:solidFill>
                  <a:srgbClr val="1A1A6A"/>
                </a:solidFill>
                <a:latin typeface="Consolas"/>
              </a:rPr>
              <a:t>2. derece:  H = wo^2/(s^2+(wo/Q)s+wo^2)   Q=0.707 -&gt; Butterworth</a:t>
            </a:r>
          </a:p>
          <a:p>
            <a:r>
              <a:rPr sz="1600" b="1">
                <a:solidFill>
                  <a:srgbClr val="1A1A6A"/>
                </a:solidFill>
                <a:latin typeface="Consolas"/>
              </a:rPr>
              <a:t>3. derece:  [wa/(s+wa)] x [2.derece]  eğim -60 dB/dek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Karmaşık eşlenik kutup çifti → keskin geçiş ve rezonans (Q).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Yüksek dereceler, düşük duyarlılık için 1. ve 2. derece kademelerin KASKADI.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Butterworth n=3 kutupları (ωc=1): −1 , −0.5 ± j0.866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4. Kesirli Dereceden (Fractional-Order) Filtreler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Temel yapı taşı: kesirli kapasitör / sabit faz elemanı (CPE).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Eğim −20α dB/dek → SÜREKLİ ayarlanabilir derece.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Öncüler: Radwan–Soliman–Elwakil (2008); s^α yaklaşımı: Oustaloup, Carlson-Halijak.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83280"/>
            <a:ext cx="10515600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500" b="1">
                <a:solidFill>
                  <a:srgbClr val="1A1A6A"/>
                </a:solidFill>
                <a:latin typeface="Consolas"/>
              </a:rPr>
              <a:t>Z(s) = 1/(C_a * s^a) ,   faz = -a*90 derece  (sabit)</a:t>
            </a:r>
          </a:p>
          <a:p>
            <a:r>
              <a:rPr sz="1500" b="1">
                <a:solidFill>
                  <a:srgbClr val="1A1A6A"/>
                </a:solidFill>
                <a:latin typeface="Consolas"/>
              </a:rPr>
              <a:t>Kesirli 1. derece:  H(s) = 1/(tau*s^a + 1)</a:t>
            </a:r>
          </a:p>
          <a:p>
            <a:r>
              <a:rPr sz="1500" b="1">
                <a:solidFill>
                  <a:srgbClr val="1A1A6A"/>
                </a:solidFill>
                <a:latin typeface="Consolas"/>
              </a:rPr>
              <a:t>(1+a). derece LP:    H(s) = 1/(s^(1+a) + a1*s^a + b)</a:t>
            </a:r>
          </a:p>
          <a:p>
            <a:r>
              <a:rPr sz="1500" b="1">
                <a:solidFill>
                  <a:srgbClr val="1A1A6A"/>
                </a:solidFill>
                <a:latin typeface="Consolas"/>
              </a:rPr>
              <a:t>Kararlilik (Matignon):  |arg(w_k)| &gt; a*pi/2   ,  w = s^a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5. Filtre Topolojileri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Pasif: RC, RLC, LC merdiven — güç gerektirmez, indüktör hacmi sorunu.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Aktif (op-amp):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Sallen-Key (1955) — az elemanlı, düşük Q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Çok geri beslemeli (MFB) — düşük çıkış empedansı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KHN durum-değişkenli (1967) — yüksek Q, DÜŞÜK DUYARLILIK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Tow-Thomas — sağlam Q–ωₒ ayrımı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Akım/gerilim-modlu (kesirli için ideal):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OTA-C / Gm-C (ωₒ ∝ gm/C), CCII, VCII, CFOA, FPAA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5. Duyarlılık (Sensitivity)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10515600" cy="68580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800" b="1">
                <a:solidFill>
                  <a:srgbClr val="1A1A6A"/>
                </a:solidFill>
                <a:latin typeface="Consolas"/>
              </a:rPr>
              <a:t>S_x^H = (x/H)*(dH/dx) = d(ln H)/d(ln 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Bileşen toleransı/sıcaklık değişiminin transfer fonksiyonuna göreli etkisi.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Tasarım hedefi: ωₒ ve Q için duyarlılığı küçük tutmak.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Sallen-Key yüksek Q’da duyarlı; KHN ("insensitive") çok düşük duyarlılık sağlar.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Kesirli filtrelerde: yaklaşım mertebesi N ve fractance toleransı ek faktör.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6. Gürültü ve SNR Hesapları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515600" cy="233172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400" b="1">
                <a:solidFill>
                  <a:srgbClr val="1A1A6A"/>
                </a:solidFill>
                <a:latin typeface="Consolas"/>
              </a:rPr>
              <a:t>Termal: v_n^2 = 4kTR*df      Atis: i_n^2 = 2qI*df</a:t>
            </a:r>
          </a:p>
          <a:p>
            <a:r>
              <a:rPr sz="1400" b="1">
                <a:solidFill>
                  <a:srgbClr val="1A1A6A"/>
                </a:solidFill>
                <a:latin typeface="Consolas"/>
              </a:rPr>
              <a:t>SNR = 10*log10(P_sinyal/P_gurultu) [dB]   NF = SNR_in - SNR_out</a:t>
            </a:r>
          </a:p>
          <a:p>
            <a:r>
              <a:rPr sz="1400" b="1">
                <a:solidFill>
                  <a:srgbClr val="1A1A6A"/>
                </a:solidFill>
                <a:latin typeface="Consolas"/>
              </a:rPr>
              <a:t>Friis: F_top = F1 + (F2-1)/G1 + (F3-1)/(G1G2) + ...</a:t>
            </a:r>
          </a:p>
          <a:p>
            <a:r>
              <a:rPr sz="1400" b="1">
                <a:solidFill>
                  <a:srgbClr val="1A1A6A"/>
                </a:solidFill>
                <a:latin typeface="Consolas"/>
              </a:rPr>
              <a:t>Gurultu-esdeger BW:  B_n = (1/|H0|^2) * INT|H(f)|^2 df  ; RC: B_n=(pi/2)fc</a:t>
            </a:r>
          </a:p>
          <a:p>
            <a:r>
              <a:rPr sz="1400" b="1">
                <a:solidFill>
                  <a:srgbClr val="1A1A6A"/>
                </a:solidFill>
                <a:latin typeface="Consolas"/>
              </a:rPr>
              <a:t>Dedektor/PMT:  ENC^2 ~ a*(C^2/tau)*e_n^2 + b*tau*i_n^2 + flicker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6A"/>
                </a:solidFill>
                <a:latin typeface="Calibri"/>
              </a:rPr>
              <a:t>ENC, şekillendirme zaman sabiti τ ile değişir: seri gürültü ∝ 1/τ, paralel ∝ τ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A1A6A"/>
                </a:solidFill>
                <a:latin typeface="Calibri"/>
              </a:rPr>
              <a:t>→ ENC’yi en küçükleyen bir OPTİMUM τ vardır. Bu, şekillendirme filtresini doğrudan SNR’a bağlar.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7. Literatürde Önemli İsimler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Butterworth (1930), Cauer/Chebyshev, Thomson–Bessel (1949) — yaklaşım aileleri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Sallen &amp; Key (1955) — pratik aktif RC topolojisi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Kerwin–Huelsman–Newcomb (1967) — düşük duyarlılıklı KHN biquad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Tow &amp; Thomas (1968–71) — Tow-Thomas biquad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Podlubny, Oustaloup — kesirli kalkülüs / s^α sentezi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Radwan, Elwakil, Psychalinos, Freeborn — kesirli dereceden filtreler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Giuseppe Ferri — akım/gerilim-modlu sensör arayüz devreleri (sonraki slayt)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8. Odak: Giuseppe Ferri (L’Aquila Üniv.)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Analog mikroelektronik profesörü; 380+ yayın, çok sayıda kitap/patent.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Çekirdek: sensörler için analog IC — gerilim &amp; AKIM-MODU, düşük gerilim-düşük güç.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İmza teknikleri: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CCII (ikinci nesil akım taşıyıcı) tabanlı sensör arayüzleri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VCII (gerilim taşıyıcı) — kaçak-bağışık kapasitif/biyosinyal okuma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Osilatör tabanlı KALİBRASYONSUZ okuma: empedans → periyot/frekans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Geniş aralıklı dirençsel/kapasitif sensör arayüzleri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• Anahtar kitap: De Marcellis &amp; Ferri, "Analog Circuits &amp; Systems for Sensor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  <a:latin typeface="Calibri"/>
              </a:rPr>
              <a:t>– Interfacing Applications", Springer 2011.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8. Ferri’nin Yaklaşımı ↔ Üç Sensör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200400"/>
                <a:gridCol w="43891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Sensör</a:t>
                      </a:r>
                    </a:p>
                  </a:txBody>
                  <a:tcPr>
                    <a:solidFill>
                      <a:srgbClr val="1A1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Çıkış tipi</a:t>
                      </a:r>
                    </a:p>
                  </a:txBody>
                  <a:tcPr>
                    <a:solidFill>
                      <a:srgbClr val="1A1A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Ferri paradigması</a:t>
                      </a:r>
                    </a:p>
                  </a:txBody>
                  <a:tcPr>
                    <a:solidFill>
                      <a:srgbClr val="1A1A6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CTC LP252 (titreşim)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4-20 mA akım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AKIM-MODU (CCII ön-uç)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R6094/R6095 (PMT)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anot akım darbesi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Akım-girişli düşük-gürültü ön-uç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H7711-03 (foton sayma)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TTL darbe (frekans)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444444"/>
                          </a:solidFill>
                          <a:latin typeface="Calibri"/>
                        </a:rPr>
                        <a:t>FREKANS/PERİYOT okuma</a:t>
                      </a:r>
                    </a:p>
                  </a:txBody>
                  <a:tcPr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9768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6A"/>
                </a:solidFill>
                <a:latin typeface="Calibri"/>
              </a:rPr>
              <a:t>Bütünleştirici fikir: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6A"/>
                </a:solidFill>
                <a:latin typeface="Calibri"/>
              </a:rPr>
              <a:t>Üç sensör = Ferri’nin üç paradigmasının (akım-modu / düşük-güç arayüz / frekans okuma) vitrini.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6A"/>
                </a:solidFill>
                <a:latin typeface="Calibri"/>
              </a:rPr>
              <a:t>Tez: tek bir "ayarlanabilir, akım-modlu, kesirli dereceli analog ön-uç" çatısı.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9. İncelenen Üç Sensör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CTC LP252-1R1-1E — 4-20 mA döngü-beslemeli titreşim (hız) transmitteri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– 0–1.0 IPS RMS (~0–25.4 mm/s), 10–1000 Hz, ISO 20816 kestirimci bakım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Hamamatsu R6094/R6095 — fotoçoğaltıcı tüp (PMT)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– 28 mm head-on, bialkali, 300–650 nm, ~2000 V, anot akım darbeleri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Hamamatsu H7711-03 — foton sayma kafası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444444"/>
                </a:solidFill>
                <a:latin typeface="Calibri"/>
              </a:rPr>
              <a:t>– İçinde HV + amp + diskriminatör; TTL darbe çıkışı; referans/altın standart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9. Deneysel Olarak Yapılabilecekler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LP252: 4-20 mA RMS bandı dışında kHz zarf-analizi filtre kolu; SNR kazancı ölçümü.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R6094/R6095: ham şekillendirici (CR-RC, Bessel vs. kesirli (1+α)) tasarla;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gürültü-BW, grup gecikmesi, pile-up açısından karşılaştır.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H7711-03: ticari modülü referans alıp kendi şekillendiricinin sayım doğruluğunu kıyasla.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CCII/VCII tabanlı akım-modlu ön-uç + kesirli filtreyi üç sensöre uyarla.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Frekans/periyot tabanlı (kalibrasyonsuz) okuma kolu ekle — Ferri yaklaşımı.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10. Çalışmanın Özgünlüğü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Kesirli filtreler literatürde çoğunlukla biyomedikal empedans/teorik sentez bağlamında.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Bu çalışmanın özgünlüğü: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Kesirli şekillendiriciyi FARKLI fiziksel sensör sınıflarına (titreşim + foton) uygulamak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Ölçülebilir ölçütlerle (SNR, ENC, grup gecikmesi, pile-up, eleman sayısı) KARŞILAŞTIRMA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"Kesirli derece + PMT/foton sayma şekillendirme" kesişimi büyük ölçüde BOŞ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Ferri’nin akım/gerilim-modlu arayüzleriyle birleştirme — özgün köprü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Ticari referansa (H7711-03) karşı adil kıyas → yayınlanabilir katkı.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11. Planlanan Çalışma — İş Paketleri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İP1 Kuram &amp; literatür: klasik+kesirli filtre, s^α yaklaşımı, gürültü kuramı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İP2 Sensör karakterizasyonu: LP252 / R6094-R6095 / H7711-03 ölçümleri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İP3 Tasarım: klasik referans + kesirli (1+α) şekillendirici (CCII/OTA/FPAA)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İP4 Simülasyon: MATLAB (FOMCON)/Python + LTspice/Cadence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İP5 Donanım &amp; doğrulama: FPAA/ayrık kart; gerçek sensörle SNR/ENC kıyası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İP6 Değerlendirme &amp; yazım: karşılaştırma matrisi, tez + makale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solidFill>
            <a:srgbClr val="F4F4F4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400" b="1">
                <a:solidFill>
                  <a:srgbClr val="1A1A6A"/>
                </a:solidFill>
                <a:latin typeface="Consolas"/>
              </a:rPr>
              <a:t>Takvim: IP1 Ay1-3 | IP2 Ay3-5 | IP3 Ay4-8 | IP4 Ay6-9 | IP5 Ay9-12 | IP6 Ay11-14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11. TÜBİTAK ve Ticarileşme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1001 — bilimsel derinlik (genellenebilir tasarım metodolojisi)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1501 / 1507 (TEYDEB) — KOBİ/sanayi ürünleştirme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1512 BiGG — girişim/ticarileşme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2244 / 2209 — öğrenci-burs bileşeni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Ürün anlatısı: "sensöre uyarlanabilir, elektronik ayarlı, düşük-güçlü YERLİ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  <a:latin typeface="Calibri"/>
              </a:rPr>
              <a:t>– analog ön-uç (kesirli) filtre/şekillendirme modülü"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444444"/>
                </a:solidFill>
                <a:latin typeface="Calibri"/>
              </a:rPr>
              <a:t>• LP252 titreşim transmitteri de aynı platformun bir uygulaması olarak konumlanır.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12. Sonuç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Klasik ve kesirli dereceden filtre kuramı, topolojiler, duyarlılık ve SNR ele alındı.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Filtrelerin sensörlerle bağlantısı ve kullanım alanları gösterildi.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Giuseppe Ferri’nin akım/gerilim-modlu ve frekans-tabanlı yaklaşımı tez eksenine oturtuldu.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Üç sensör (LP252, R6094/R6095, H7711-03) tanıtılıp deneysel olanaklar belirlendi.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Özgün katkı: kesirli şekillendirme + çok-sensörlü, akım-modlu, ölçülebilir karşılaştırma.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444444"/>
                </a:solidFill>
                <a:latin typeface="Calibri"/>
              </a:rPr>
              <a:t>• Sonraki adım: İP1–İP2 (literatür matrisi + sensör karakterizasyonu).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Seçilmiş Kaynaklar (IEEE)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64592"/>
            <a:ext cx="822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>
                <a:solidFill>
                  <a:srgbClr val="EEF4FF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A. De Marcellis, G. Ferri, Analog Circuits and Systems for ... Sensor Interfacing, Springer, 2011.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G. Ferri, N. C. Guerrini, Low-Voltage Low-Power CMOS Current Conveyors, Springer, 2003.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R. Schaumann, H. Xiao, M. E. Van Valkenburg, Design of Analog Filters, 2nd ed., Oxford, 2010.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A. G. Radwan, A. M. Soliman, A. S. Elwakil, "First-order filters generalized to the fractional domain," JCSC, 2008.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A. Oustaloup et al., "Frequency-band complex noninteger differentiator," IEEE TCAS-I, 2000.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G. Tsirimokou, C. Psychalinos, A. Elwakil, Design of CMOS ... Fractional-Order Circuits, Springer, 2017.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G. F. Knoll, Radiation Detection and Measurement, 4th ed., Wiley, 2010.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• Hamamatsu R6094/R6095 (TPMH1382E) &amp; H7711 datasheets; CTC LP252; ISO 20816-1:2016.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