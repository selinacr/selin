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T.C. DOĞUŞ ÜNİVERSİTESİ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Lisansüstü Eğitim Enstitüsü — Elektrik-Elektronik Mühendisliği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EEM 537 – ANALOG FİLTRELER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Analog ve Kesirli Dereceden Filtreler:</a:t>
            </a:r>
          </a:p>
          <a:p>
            <a:pPr algn="ctr">
              <a:spcAft>
                <a:spcPts val="5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Sensör Sinyallerinin Koşullandırılması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Tez Hazırlık Sunumu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Hazırlayan: Selin AÇAR  (202591073001)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Danışman: Prof. Dr. Şahram MİNAYİ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İstanbul,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Sunum Planı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nedir? Temel kavramlar ve frekans bölgeleri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türleri (LPF / HPF / BPF / BSF / all-pass)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yaklaşımları: Butterworth, Chebyshev, Bessel, Eliptik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Transfer fonksiyonu ve dereceye göre yapılar (1. / 2. / 3.)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Kesirli dereceden filtreler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Topolojiler, duyarlılık ve SNR/gürültü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Literatürde güçlü isimler — filtre + sensör (Ferri ve diğerleri)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İncelenen üç sensör, deneysel yaklaşım, özgünlük ve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1. Giriş ve Motivasyon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Sensör çıkışları genelde zayıf, gürültülü ve geniş bantlıdır.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Filtre = işaretin frekans bileşenlerini SEÇİCİ biçimde geçiren/zayıflatan devre.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Ölçüm zincirinde filtrenin görevleri: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İstenen bandı geçir, gürültüyü bastır → SNR (işaret/gürültü) artar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Darbe sensörlerinde işareti şekillendir (pulse shaping)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Sayısallaştırma (ADC) öncesi örtüşmeyi (aliasing) önle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50 Hz şebeke gibi belirli girişimleri çentik ile at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 çalışma: klasik + kesirli filtreleri üç gerçek sensöre uygulamak.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2. Amaç ve Araştırma Sorusu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1A1A6A"/>
                </a:solidFill>
                <a:latin typeface="Calibri"/>
              </a:rPr>
              <a:t>Araştırma sorusu: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10698480" cy="1463040"/>
          </a:xfrm>
          <a:prstGeom prst="rect">
            <a:avLst/>
          </a:prstGeom>
          <a:solidFill>
            <a:srgbClr val="F4F4F4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/>
            <a:r>
              <a:rPr sz="1700" b="1">
                <a:solidFill>
                  <a:srgbClr val="1A1A6A"/>
                </a:solidFill>
                <a:latin typeface="Consolas"/>
              </a:rPr>
              <a:t>Kesirli dereceden (1+a) bir analog filtre/sekillendirici;</a:t>
            </a:r>
          </a:p>
          <a:p>
            <a:r>
              <a:rPr sz="1700" b="1">
                <a:solidFill>
                  <a:srgbClr val="1A1A6A"/>
                </a:solidFill>
                <a:latin typeface="Consolas"/>
              </a:rPr>
              <a:t>klasik (Bessel, CR-RC) tasarimlara gore sensor sinyalinde</a:t>
            </a:r>
          </a:p>
          <a:p>
            <a:r>
              <a:rPr sz="1700" b="1">
                <a:solidFill>
                  <a:srgbClr val="1A1A6A"/>
                </a:solidFill>
                <a:latin typeface="Consolas"/>
              </a:rPr>
              <a:t>SNR, gecikme ve darbe ayrisimi acisindan kazanc saglar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1A1A6A"/>
                </a:solidFill>
                <a:latin typeface="Calibri"/>
              </a:rPr>
              <a:t>Hipotez: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Derecenin sürekli ayarlanabilmesi, aynı gürültü bastırmasını daha düşük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–  gecikme ve/veya daha az devre elemanı ile sağlar.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3. Filtre Nedir? Temel Kavramlar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Geçirme bandı (passband): filtrenin geçirdiği frekans aralığı.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Durdurma bandı (stopband): bastırdığı frekans aralığı.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Kesim frekansı (fc / ωc): geçirme ile durdurma arasındaki sınır;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genlik −3 dB’ye (gücün yarısına) düştüğü frekans.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Geçiş bölgesi (transition band): ikisi arasındaki eğimli kısım — dar olması istenir.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Söndürme eğimi: derece arttıkça dikleşir (−20·n dB/dekad).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Grup gecikmesi: farklı frekansların ne kadar geciktiği; düz olması dalga şeklini korur.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3. Filtre Türleri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Alçak geçiren (LPF): düşük frekansları geçirir, yüksek frekanslı gürültüyü atar.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Yüksek geçiren (HPF): yüksek frekansları geçirir, DC kayması/çok düşük frekansı atar.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Bant geçiren (BPF): yalnızca belirli bir bandı geçirir (örn. haberleşme kanalı).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Bant söndüren / çentik (BSF / notch): dar bir bandı atar (örn. 50 Hz şebeke girişimi).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Tüm geçiren (all-pass): genliği değiştirmez, yalnızca fazı/gecikmeyi düzenler.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4. "Filtre Yaklaşımı" Ne Demek?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İdeal filtre = "tuğla duvar": geçen bandı tam geçirir, geri kalanı anında keser.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 fiziksel olarak GERÇEKLENEMEZ (sonsuz dik geçiş gerekir).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 yüzden ideale matematiksel olarak YAKLAŞAN fonksiyonlar kullanılır.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Bunlara literatürde "yaklaşım fonksiyonları" denir: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İngilizce: filter approximation functions / approximation methods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Her aile ideale FARKLI bir özelliği optimize ederek yaklaşır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Dört klasik aile: Butterworth, Chebyshev, Bessel, Eliptik (Cauer).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Kısaca: "yaklaşım" = ideal filtreye hangi yöntemle/karakterle yaklaştığımızdır.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4. Butterworth ve Chebyshev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Butterworth — "maksimum düz": geçirme bandı dümdüz, dalgasız.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Avantaj: düzgün genlik. Dezavantaj: geçiş yavaş (yumuşak).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Chebyshev Tip I — geçiş daha keskin, ama geçirme bandında DALGA (ripple) var.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Tip II: dalgayı durdurma bandına taşır.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Avantaj: aynı derecede daha dik geçiş. Dezavantaj: dalga + kötü faz.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solidFill>
            <a:srgbClr val="F4F4F4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/>
            <a:r>
              <a:rPr sz="1500" b="1">
                <a:solidFill>
                  <a:srgbClr val="1A1A6A"/>
                </a:solidFill>
                <a:latin typeface="Consolas"/>
              </a:rPr>
              <a:t>Butterworth: |H(jw)|^2 = 1 / ( 1 + (w/wc)^(2n) )</a:t>
            </a:r>
          </a:p>
          <a:p>
            <a:r>
              <a:rPr sz="1500" b="1">
                <a:solidFill>
                  <a:srgbClr val="1A1A6A"/>
                </a:solidFill>
                <a:latin typeface="Consolas"/>
              </a:rPr>
              <a:t>Chebyshev I : |H(jw)|^2 = 1 / ( 1 + e^2 * Tn^2(w/wc) 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A1A6A"/>
                </a:solidFill>
                <a:latin typeface="Calibri"/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30368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w : </a:t>
            </a:r>
            <a:r>
              <a:rPr sz="1400">
                <a:solidFill>
                  <a:srgbClr val="333333"/>
                </a:solidFill>
                <a:latin typeface="Calibri"/>
              </a:rPr>
              <a:t>açısal frekans (rad/s)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wc : </a:t>
            </a:r>
            <a:r>
              <a:rPr sz="1400">
                <a:solidFill>
                  <a:srgbClr val="333333"/>
                </a:solidFill>
                <a:latin typeface="Calibri"/>
              </a:rPr>
              <a:t>kesim açısal frekansı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n : </a:t>
            </a:r>
            <a:r>
              <a:rPr sz="1400">
                <a:solidFill>
                  <a:srgbClr val="333333"/>
                </a:solidFill>
                <a:latin typeface="Calibri"/>
              </a:rPr>
              <a:t>filtre derecesi (büyüdükçe geçiş dikleşir)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e : </a:t>
            </a:r>
            <a:r>
              <a:rPr sz="1400">
                <a:solidFill>
                  <a:srgbClr val="333333"/>
                </a:solidFill>
                <a:latin typeface="Calibri"/>
              </a:rPr>
              <a:t>dalga (ripple) parametresi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Tn : </a:t>
            </a:r>
            <a:r>
              <a:rPr sz="1400">
                <a:solidFill>
                  <a:srgbClr val="333333"/>
                </a:solidFill>
                <a:latin typeface="Calibri"/>
              </a:rPr>
              <a:t>n. derece Chebyshev polinomu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4. Bessel ve Eliptik (Cauer)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Bessel — "maksimum düz GECİKME": amaç dik geçiş değil, DALGA ŞEKLİNİ korumak.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Grup gecikmesi düzdür → darbeler bozulmadan, AŞMA (overshoot) olmadan geçer.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Bedeli: geçiş en yumuşak olanıdır. Darbe sensörleri (PMT) için idealdir.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Eliptik (Cauer) — "en keskin geçiş": en az derece ile en dik kesim.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Bedeli: HEM geçirme HEM durdurma bandında dalga + en kötü faz/gecikme.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Çok dar geçiş gereken (örn. dar kanal ayırma) yerlerde tercih edilir.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Özet sezgi: Bessel = en iyi ZAMAN davranışı (dalga şekli) ;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Eliptik = en iyi FREKANS davranışı (keskinlik). İkisi zıt uçlardır.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4. Yaklaşım Aileleri — Karşılaştırma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286000"/>
                <a:gridCol w="2194560"/>
                <a:gridCol w="228600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Aile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Genlik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Geçiş keskinliği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Zaman/dalga şekli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Tipik kullanım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Butterworth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maksimum düz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orta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iyi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genel amaç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Chebyshev 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geçişte dalga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yüksek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kötü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keskinlik gerekince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Bessel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yumuşak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düşük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EN İYİ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darbe / PMT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Eliptik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her iki bantta dalga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EN YÜKSEK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en kötü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dar kanal ayırma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5. Transfer Fonksiyonu ve Derece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/>
            <a:r>
              <a:rPr sz="1700" b="1">
                <a:solidFill>
                  <a:srgbClr val="1A1A6A"/>
                </a:solidFill>
                <a:latin typeface="Consolas"/>
              </a:rPr>
              <a:t>H(s) = N(s) / D(s)</a:t>
            </a:r>
          </a:p>
          <a:p>
            <a:r>
              <a:rPr sz="1700" b="1">
                <a:solidFill>
                  <a:srgbClr val="1A1A6A"/>
                </a:solidFill>
                <a:latin typeface="Consolas"/>
              </a:rPr>
              <a:t>      = (b_m s^m + ... + b_0) / (a_n s^n + ... + a_0)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  <a:latin typeface="Calibri"/>
              </a:rPr>
              <a:t>Burada: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H(s) : </a:t>
            </a:r>
            <a:r>
              <a:rPr sz="1700">
                <a:solidFill>
                  <a:srgbClr val="333333"/>
                </a:solidFill>
                <a:latin typeface="Calibri"/>
              </a:rPr>
              <a:t>filtrenin giriş→çıkış kazanç fonksiyonu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s : </a:t>
            </a:r>
            <a:r>
              <a:rPr sz="1700">
                <a:solidFill>
                  <a:srgbClr val="333333"/>
                </a:solidFill>
                <a:latin typeface="Calibri"/>
              </a:rPr>
              <a:t>karmaşık frekans değişkeni (s = σ + jω)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N(s) : </a:t>
            </a:r>
            <a:r>
              <a:rPr sz="1700">
                <a:solidFill>
                  <a:srgbClr val="333333"/>
                </a:solidFill>
                <a:latin typeface="Calibri"/>
              </a:rPr>
              <a:t>pay polinomu — kökleri "sıfırlar"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D(s) : </a:t>
            </a:r>
            <a:r>
              <a:rPr sz="1700">
                <a:solidFill>
                  <a:srgbClr val="333333"/>
                </a:solidFill>
                <a:latin typeface="Calibri"/>
              </a:rPr>
              <a:t>payda polinomu — kökleri "kutuplar"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n : </a:t>
            </a:r>
            <a:r>
              <a:rPr sz="1700">
                <a:solidFill>
                  <a:srgbClr val="333333"/>
                </a:solidFill>
                <a:latin typeface="Calibri"/>
              </a:rPr>
              <a:t>filtre derecesi → eğim = −20·n dB/dekad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Kutupların yeri filtrenin davranışını (kararlılık, Q, frekans) belirler.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5. Birinci Dereceden Filtre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463040"/>
          </a:xfrm>
          <a:prstGeom prst="rect">
            <a:avLst/>
          </a:prstGeom>
          <a:solidFill>
            <a:srgbClr val="F4F4F4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/>
            <a:r>
              <a:rPr sz="1700" b="1">
                <a:solidFill>
                  <a:srgbClr val="1A1A6A"/>
                </a:solidFill>
                <a:latin typeface="Consolas"/>
              </a:rPr>
              <a:t>Alçak geçiren:  H(s) = wc / (s + wc)</a:t>
            </a:r>
          </a:p>
          <a:p>
            <a:r>
              <a:rPr sz="1700" b="1">
                <a:solidFill>
                  <a:srgbClr val="1A1A6A"/>
                </a:solidFill>
                <a:latin typeface="Consolas"/>
              </a:rPr>
              <a:t>Yüksek geçiren: H(s) = s / (s + wc)</a:t>
            </a:r>
          </a:p>
          <a:p>
            <a:r>
              <a:rPr sz="1700" b="1">
                <a:solidFill>
                  <a:srgbClr val="1A1A6A"/>
                </a:solidFill>
                <a:latin typeface="Consolas"/>
              </a:rPr>
              <a:t>wc = 1 / (R*C)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  <a:latin typeface="Calibri"/>
              </a:rPr>
              <a:t>Burada: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84448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wc : </a:t>
            </a:r>
            <a:r>
              <a:rPr sz="1700">
                <a:solidFill>
                  <a:srgbClr val="333333"/>
                </a:solidFill>
                <a:latin typeface="Calibri"/>
              </a:rPr>
              <a:t>kesim açısal frekansı (rad/s)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R : </a:t>
            </a:r>
            <a:r>
              <a:rPr sz="1700">
                <a:solidFill>
                  <a:srgbClr val="333333"/>
                </a:solidFill>
                <a:latin typeface="Calibri"/>
              </a:rPr>
              <a:t>direnç (ohm)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C : </a:t>
            </a:r>
            <a:r>
              <a:rPr sz="1700">
                <a:solidFill>
                  <a:srgbClr val="333333"/>
                </a:solidFill>
                <a:latin typeface="Calibri"/>
              </a:rPr>
              <a:t>kapasite (farad)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s : </a:t>
            </a:r>
            <a:r>
              <a:rPr sz="1700">
                <a:solidFill>
                  <a:srgbClr val="333333"/>
                </a:solidFill>
                <a:latin typeface="Calibri"/>
              </a:rPr>
              <a:t>karmaşık frekans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4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Tek kutuplu en yalın yapı: eğim −20 dB/dek, kesimde faz −45°.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5. İkinci Dereceden Filtre (Biquad)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/>
            <a:r>
              <a:rPr sz="1700" b="1">
                <a:solidFill>
                  <a:srgbClr val="1A1A6A"/>
                </a:solidFill>
                <a:latin typeface="Consolas"/>
              </a:rPr>
              <a:t>H(s) = wo^2 / ( s^2 + (wo/Q) s + wo^2 )</a:t>
            </a:r>
          </a:p>
          <a:p>
            <a:r>
              <a:rPr sz="1700" b="1">
                <a:solidFill>
                  <a:srgbClr val="1A1A6A"/>
                </a:solidFill>
                <a:latin typeface="Consolas"/>
              </a:rPr>
              <a:t>zeta = 1 / (2Q)   ;   Q = 0.707 -&gt; Butterworth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  <a:latin typeface="Calibri"/>
              </a:rPr>
              <a:t>Burada: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wo : </a:t>
            </a:r>
            <a:r>
              <a:rPr sz="1700">
                <a:solidFill>
                  <a:srgbClr val="333333"/>
                </a:solidFill>
                <a:latin typeface="Calibri"/>
              </a:rPr>
              <a:t>doğal (köşe) açısal frekans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Q : </a:t>
            </a:r>
            <a:r>
              <a:rPr sz="1700">
                <a:solidFill>
                  <a:srgbClr val="333333"/>
                </a:solidFill>
                <a:latin typeface="Calibri"/>
              </a:rPr>
              <a:t>kalite faktörü — rezonansın keskinliği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zeta : </a:t>
            </a:r>
            <a:r>
              <a:rPr sz="1700">
                <a:solidFill>
                  <a:srgbClr val="333333"/>
                </a:solidFill>
                <a:latin typeface="Calibri"/>
              </a:rPr>
              <a:t>sönüm oranı (Q ile ters orantılı)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s : </a:t>
            </a:r>
            <a:r>
              <a:rPr sz="1700">
                <a:solidFill>
                  <a:srgbClr val="333333"/>
                </a:solidFill>
                <a:latin typeface="Calibri"/>
              </a:rPr>
              <a:t>karmaşık frekans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Karmaşık eşlenik kutup çifti → keskin geçiş ve rezonans.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Yüksek dereceli filtreler bu 2. derece bloklarının kaskadıyla kurulur.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5. Üçüncü Dereceden Filtre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188720"/>
          </a:xfrm>
          <a:prstGeom prst="rect">
            <a:avLst/>
          </a:prstGeom>
          <a:solidFill>
            <a:srgbClr val="F4F4F4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/>
            <a:r>
              <a:rPr sz="1600" b="1">
                <a:solidFill>
                  <a:srgbClr val="1A1A6A"/>
                </a:solidFill>
                <a:latin typeface="Consolas"/>
              </a:rPr>
              <a:t>H(s) = [ wa/(s+wa) ] x [ wo^2 / (s^2 + (wo/Q)s + wo^2) ]</a:t>
            </a:r>
          </a:p>
          <a:p>
            <a:r>
              <a:rPr sz="1600" b="1">
                <a:solidFill>
                  <a:srgbClr val="1A1A6A"/>
                </a:solidFill>
                <a:latin typeface="Consolas"/>
              </a:rPr>
              <a:t>Butterworth (n=3, wc=1) kutuplari: -1 , -0.5 +/- j0.866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  <a:latin typeface="Calibri"/>
              </a:rPr>
              <a:t>Burada: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10128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wa : </a:t>
            </a:r>
            <a:r>
              <a:rPr sz="1700">
                <a:solidFill>
                  <a:srgbClr val="333333"/>
                </a:solidFill>
                <a:latin typeface="Calibri"/>
              </a:rPr>
              <a:t>reel (tek) kutbun frekansı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wo, Q : </a:t>
            </a:r>
            <a:r>
              <a:rPr sz="1700">
                <a:solidFill>
                  <a:srgbClr val="333333"/>
                </a:solidFill>
                <a:latin typeface="Calibri"/>
              </a:rPr>
              <a:t>karmaşık kutup çiftinin frekansı ve kalite faktörü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j : </a:t>
            </a:r>
            <a:r>
              <a:rPr sz="1700">
                <a:solidFill>
                  <a:srgbClr val="333333"/>
                </a:solidFill>
                <a:latin typeface="Calibri"/>
              </a:rPr>
              <a:t>sanal birim (√−1)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1 reel kutup + 1 karmaşık kutup çifti = 3. derece, eğim −60 dB/dek.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Kaskad yaklaşımı duyarlılığı düşürür (her blok ayrı ayarlanır).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6. Kesirli Dereceden Filtreler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698480" cy="1554480"/>
          </a:xfrm>
          <a:prstGeom prst="rect">
            <a:avLst/>
          </a:prstGeom>
          <a:solidFill>
            <a:srgbClr val="F4F4F4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/>
            <a:r>
              <a:rPr sz="1500" b="1">
                <a:solidFill>
                  <a:srgbClr val="1A1A6A"/>
                </a:solidFill>
                <a:latin typeface="Consolas"/>
              </a:rPr>
              <a:t>Kesirli kapasitor (CPE):  Z(s) = 1 / (C_a * s^a)   ,  faz = -a*90</a:t>
            </a:r>
          </a:p>
          <a:p>
            <a:r>
              <a:rPr sz="1500" b="1">
                <a:solidFill>
                  <a:srgbClr val="1A1A6A"/>
                </a:solidFill>
                <a:latin typeface="Consolas"/>
              </a:rPr>
              <a:t>Kesirli 1. derece:  H(s) = 1 / ( tau * s^a + 1 )</a:t>
            </a:r>
          </a:p>
          <a:p>
            <a:r>
              <a:rPr sz="1500" b="1">
                <a:solidFill>
                  <a:srgbClr val="1A1A6A"/>
                </a:solidFill>
                <a:latin typeface="Consolas"/>
              </a:rPr>
              <a:t>Kararlilik (Matignon):  |arg(w)| &gt; a*pi/2 ,  w = s^a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1A1A6A"/>
                </a:solidFill>
                <a:latin typeface="Calibri"/>
              </a:rPr>
              <a:t>Burada: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93008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a (alfa) : </a:t>
            </a:r>
            <a:r>
              <a:rPr sz="1500">
                <a:solidFill>
                  <a:srgbClr val="333333"/>
                </a:solidFill>
                <a:latin typeface="Calibri"/>
              </a:rPr>
              <a:t>kesirli derece, 0 &lt; α &lt; 1 (eğim −20α dB/dek)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C_a : </a:t>
            </a:r>
            <a:r>
              <a:rPr sz="1500">
                <a:solidFill>
                  <a:srgbClr val="333333"/>
                </a:solidFill>
                <a:latin typeface="Calibri"/>
              </a:rPr>
              <a:t>kesirli kapasite / "fractance" elemanı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tau : </a:t>
            </a:r>
            <a:r>
              <a:rPr sz="1500">
                <a:solidFill>
                  <a:srgbClr val="333333"/>
                </a:solidFill>
                <a:latin typeface="Calibri"/>
              </a:rPr>
              <a:t>zaman sabiti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s^a : </a:t>
            </a:r>
            <a:r>
              <a:rPr sz="1500">
                <a:solidFill>
                  <a:srgbClr val="333333"/>
                </a:solidFill>
                <a:latin typeface="Calibri"/>
              </a:rPr>
              <a:t>kesirli mertebeden türev operatörü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w : </a:t>
            </a:r>
            <a:r>
              <a:rPr sz="1500">
                <a:solidFill>
                  <a:srgbClr val="333333"/>
                </a:solidFill>
                <a:latin typeface="Calibri"/>
              </a:rPr>
              <a:t>kararlılık için s^α dönüşümü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A1A6A"/>
                </a:solidFill>
                <a:latin typeface="Calibri"/>
              </a:rPr>
              <a:t>Yenilik: dereceyi SÜREKLİ seçebilmek → "ihtiyaca uygun" eğim ve faz.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7. Filtre Topolojileri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Pasif: R, L, C — güç gerektirmez; indüktör hacmi dezavantaj.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Aktif (op-amp tabanlı):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Sallen-Key (1955): basit, düşük Q için kararlı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Çok geri beslemeli (MFB): düşük çıkış empedansı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KHN durum-değişkenli (1967): yüksek Q, DÜŞÜK DUYARLILIK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Tow-Thomas: sağlam Q–ωₒ ayrımı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Akım/gerilim-modlu (kesirli için ideal): OTA-C, CCII, VCII, CFOA, FPAA.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7. Duyarlılık (Sensitivity)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731520"/>
          </a:xfrm>
          <a:prstGeom prst="rect">
            <a:avLst/>
          </a:prstGeom>
          <a:solidFill>
            <a:srgbClr val="F4F4F4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/>
            <a:r>
              <a:rPr sz="1800" b="1">
                <a:solidFill>
                  <a:srgbClr val="1A1A6A"/>
                </a:solidFill>
                <a:latin typeface="Consolas"/>
              </a:rPr>
              <a:t>S_x^H = (x/H) * (dH/dx) = d(ln H) / d(ln 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  <a:latin typeface="Calibri"/>
              </a:rPr>
              <a:t>Burada: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61488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S_x^H : </a:t>
            </a:r>
            <a:r>
              <a:rPr sz="1700">
                <a:solidFill>
                  <a:srgbClr val="333333"/>
                </a:solidFill>
                <a:latin typeface="Calibri"/>
              </a:rPr>
              <a:t>x bileşenindeki değişimin H’ye göreli etkisi (duyarlılık)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x : </a:t>
            </a:r>
            <a:r>
              <a:rPr sz="1700">
                <a:solidFill>
                  <a:srgbClr val="333333"/>
                </a:solidFill>
                <a:latin typeface="Calibri"/>
              </a:rPr>
              <a:t>devre elemanı (R, C, kazanç ...)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H : </a:t>
            </a:r>
            <a:r>
              <a:rPr sz="1700">
                <a:solidFill>
                  <a:srgbClr val="333333"/>
                </a:solidFill>
                <a:latin typeface="Calibri"/>
              </a:rPr>
              <a:t>filtrenin transfer fonksiyonu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d/dx : </a:t>
            </a:r>
            <a:r>
              <a:rPr sz="1700">
                <a:solidFill>
                  <a:srgbClr val="333333"/>
                </a:solidFill>
                <a:latin typeface="Calibri"/>
              </a:rPr>
              <a:t>kısmi türev (küçük değişim oranı)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solidFill>
                  <a:srgbClr val="1A1A6A"/>
                </a:solidFill>
                <a:latin typeface="Calibri"/>
              </a:rPr>
              <a:t>•  Düşük duyarlılık = üretim toleransı/sıcaklığa karşı sağlam tasarım.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1A1A6A"/>
                </a:solidFill>
                <a:latin typeface="Calibri"/>
              </a:rPr>
              <a:t>•  Sallen-Key yüksek Q’da duyarlı; KHN ("insensitive") çok düşük duyarlılık verir.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8. Gürültü ve SNR Hesapları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698480" cy="1828800"/>
          </a:xfrm>
          <a:prstGeom prst="rect">
            <a:avLst/>
          </a:prstGeom>
          <a:solidFill>
            <a:srgbClr val="F4F4F4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/>
            <a:r>
              <a:rPr sz="1400" b="1">
                <a:solidFill>
                  <a:srgbClr val="1A1A6A"/>
                </a:solidFill>
                <a:latin typeface="Consolas"/>
              </a:rPr>
              <a:t>Termal: v_n^2 = 4kTR*df     Atis: i_n^2 = 2qI*df</a:t>
            </a:r>
          </a:p>
          <a:p>
            <a:r>
              <a:rPr sz="1400" b="1">
                <a:solidFill>
                  <a:srgbClr val="1A1A6A"/>
                </a:solidFill>
                <a:latin typeface="Consolas"/>
              </a:rPr>
              <a:t>SNR = 10*log10(P_sinyal / P_gurultu)  [dB]</a:t>
            </a:r>
          </a:p>
          <a:p>
            <a:r>
              <a:rPr sz="1400" b="1">
                <a:solidFill>
                  <a:srgbClr val="1A1A6A"/>
                </a:solidFill>
                <a:latin typeface="Consolas"/>
              </a:rPr>
              <a:t>NF = SNR_giris - SNR_cikis   (gurultu sekli)</a:t>
            </a:r>
          </a:p>
          <a:p>
            <a:r>
              <a:rPr sz="1400" b="1">
                <a:solidFill>
                  <a:srgbClr val="1A1A6A"/>
                </a:solidFill>
                <a:latin typeface="Consolas"/>
              </a:rPr>
              <a:t>Dedektor: ENC^2 ~ a*(C^2/tau) + b*tau   -&gt; optimum tau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A1A6A"/>
                </a:solidFill>
                <a:latin typeface="Calibri"/>
              </a:rPr>
              <a:t>Burada: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67328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k : </a:t>
            </a:r>
            <a:r>
              <a:rPr sz="1400">
                <a:solidFill>
                  <a:srgbClr val="333333"/>
                </a:solidFill>
                <a:latin typeface="Calibri"/>
              </a:rPr>
              <a:t>Boltzmann sabiti (1.38e-23 J/K)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T : </a:t>
            </a:r>
            <a:r>
              <a:rPr sz="1400">
                <a:solidFill>
                  <a:srgbClr val="333333"/>
                </a:solidFill>
                <a:latin typeface="Calibri"/>
              </a:rPr>
              <a:t>mutlak sıcaklık (K)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R : </a:t>
            </a:r>
            <a:r>
              <a:rPr sz="1400">
                <a:solidFill>
                  <a:srgbClr val="333333"/>
                </a:solidFill>
                <a:latin typeface="Calibri"/>
              </a:rPr>
              <a:t>direnç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df : </a:t>
            </a:r>
            <a:r>
              <a:rPr sz="1400">
                <a:solidFill>
                  <a:srgbClr val="333333"/>
                </a:solidFill>
                <a:latin typeface="Calibri"/>
              </a:rPr>
              <a:t>bant genişliği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q : </a:t>
            </a:r>
            <a:r>
              <a:rPr sz="1400">
                <a:solidFill>
                  <a:srgbClr val="333333"/>
                </a:solidFill>
                <a:latin typeface="Calibri"/>
              </a:rPr>
              <a:t>elektron yükü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I : </a:t>
            </a:r>
            <a:r>
              <a:rPr sz="1400">
                <a:solidFill>
                  <a:srgbClr val="333333"/>
                </a:solidFill>
                <a:latin typeface="Calibri"/>
              </a:rPr>
              <a:t>akım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tau : </a:t>
            </a:r>
            <a:r>
              <a:rPr sz="1400">
                <a:solidFill>
                  <a:srgbClr val="333333"/>
                </a:solidFill>
                <a:latin typeface="Calibri"/>
              </a:rPr>
              <a:t>şekillendirme zaman sabiti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C : </a:t>
            </a:r>
            <a:r>
              <a:rPr sz="1400">
                <a:solidFill>
                  <a:srgbClr val="333333"/>
                </a:solidFill>
                <a:latin typeface="Calibri"/>
              </a:rPr>
              <a:t>toplam giriş kapasitesi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ENC : </a:t>
            </a:r>
            <a:r>
              <a:rPr sz="1400">
                <a:solidFill>
                  <a:srgbClr val="333333"/>
                </a:solidFill>
                <a:latin typeface="Calibri"/>
              </a:rPr>
              <a:t>eşdeğer gürültü yükü (dedektör SNR ölçütü)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9. Klasik Filtre Kuramında Önemli İsimler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S. Butterworth (1930) — maksimum düz genlik yaklaşımı.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P. Chebyshev / W. Cauer — Chebyshev ve eliptik yaklaşımlar, ağ sentezi.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W. E. Thomson (1949) — Bessel (maksimum düz gecikme) filtreler.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R. P. Sallen &amp; E. L. Key (1955) — pratik aktif RC filtre topolojisi.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Kerwin–Huelsman–Newcomb (1967) — düşük duyarlılıklı KHN biquad.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A. Oustaloup, I. Podlubny — kesirli kalkülüs ve s^α sentezi.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9. Filtre + Sensör Alanında Güçlü İsimler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Giuseppe Ferri (L’Aquila, İtalya): akım/gerilim-modlu (CCII/VCII) sensör arayüz devreleri.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Costas Psychalinos (Patras, Yunanistan): kesirli dereceden filtreler, düşük-gerilim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–  biyomedikal sinyal işleme (EKG/EEG).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Ahmed S. Elwakil (Sharjah): kesirli dereceden devreler ve biyo-empedans modelleme.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Ahmed G. Radwan (Kahire): kesirli dereceden filtrelerin kuramsal temeli.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Todd J. Freeborn (Alabama, ABD): kesirli biyo-empedans / dedektör modelleme.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Bu isimler "kesirli filtre + sensör/biyosinyal" kesişiminin çekirdeğini oluşturur.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9. Örnek: Giuseppe Ferri — İlgili Makaleler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Ferri’nin çizgisi: sensör işaretini AKIM alanında işle, kalibrasyonsuz/düşük-güç oku.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Tezime uygun iki örnek çalışma: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2578608"/>
          </a:xfrm>
          <a:prstGeom prst="rect">
            <a:avLst/>
          </a:prstGeom>
          <a:solidFill>
            <a:srgbClr val="F4F4F4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/>
            <a:r>
              <a:rPr sz="1400" b="1">
                <a:solidFill>
                  <a:srgbClr val="1A1A6A"/>
                </a:solidFill>
                <a:latin typeface="Consolas"/>
              </a:rPr>
              <a:t>[1] A. De Marcellis, G. Ferri et al., "Uncalibrated op-amp-based sensor</a:t>
            </a:r>
          </a:p>
          <a:p>
            <a:r>
              <a:rPr sz="1400" b="1">
                <a:solidFill>
                  <a:srgbClr val="1A1A6A"/>
                </a:solidFill>
                <a:latin typeface="Consolas"/>
              </a:rPr>
              <a:t>     interface for capacitive/resistive sensors," IET CDS, 2015.</a:t>
            </a:r>
          </a:p>
          <a:p>
            <a:r>
              <a:rPr sz="1400" b="1">
                <a:solidFill>
                  <a:srgbClr val="1A1A6A"/>
                </a:solidFill>
                <a:latin typeface="Consolas"/>
              </a:rPr>
              <a:t>     -&gt; empedansi PERIYODA cevirir (frekans-tabanli, kalibrasyonsuz okuma)</a:t>
            </a:r>
          </a:p>
          <a:p>
            <a:r>
              <a:rPr sz="1400" b="1">
                <a:solidFill>
                  <a:srgbClr val="1A1A6A"/>
                </a:solidFill>
                <a:latin typeface="Consolas"/>
              </a:rPr>
              <a:t>[2] V. Stornelli, G. Ferri et al., "A VCII-Based Stray Insensitive Analog</a:t>
            </a:r>
          </a:p>
          <a:p>
            <a:r>
              <a:rPr sz="1400" b="1">
                <a:solidFill>
                  <a:srgbClr val="1A1A6A"/>
                </a:solidFill>
                <a:latin typeface="Consolas"/>
              </a:rPr>
              <a:t>     Interface for Differential Capacitance Sensors," Sensors 19(16):3545, 2019.</a:t>
            </a:r>
          </a:p>
          <a:p>
            <a:r>
              <a:rPr sz="1400" b="1">
                <a:solidFill>
                  <a:srgbClr val="1A1A6A"/>
                </a:solidFill>
                <a:latin typeface="Consolas"/>
              </a:rPr>
              <a:t>     -&gt; VCII ile kacak-bagisik, sade ve hassas sensor arayuzu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A1A6A"/>
                </a:solidFill>
                <a:latin typeface="Calibri"/>
              </a:rPr>
              <a:t>Neden uygun: 4-20 mA (akım), PMT (akım darbesi) ve foton sayma (frekans)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A1A6A"/>
                </a:solidFill>
                <a:latin typeface="Calibri"/>
              </a:rPr>
              <a:t>sensörlerim, Ferri’nin akım-modu + frekans-okuma yaklaşımına birebir oturur.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10. İncelenen Üç Sensör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CTC LP252-1R1-1E — 4-20 mA döngü-beslemeli titreşim (hız) transmitteri</a:t>
            </a:r>
          </a:p>
          <a:p>
            <a:pPr lvl="1"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–  0–1.0 IPS RMS (~0–25.4 mm/s), 10–1000 Hz; ISO 20816 kestirimci bakım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Hamamatsu R6094/R6095 — fotoçoğaltıcı tüp (PMT)</a:t>
            </a:r>
          </a:p>
          <a:p>
            <a:pPr lvl="1"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–  28 mm head-on, bialkali, 300–650 nm, ~2000 V; anot AKIM DARBELERİ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Hamamatsu H7711-03 — foton sayma kafası</a:t>
            </a:r>
          </a:p>
          <a:p>
            <a:pPr lvl="1"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–  İçinde HV + amp + diskriminatör; TTL DARBE (frekans) çıkışı; referans modül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10. Deneysel Olarak Yapılabilecekler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LP252: 4-20 mA RMS bandı dışında kHz zarf-analizi filtre kolu; SNR kazancı ölçümü.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R6094/R6095: ham şekillendirici (CR-RC, Bessel vs. kesirli) tasarla ve karşılaştır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(gürültü-bant genişliği, gecikme, darbe yığılması/pile-up).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H7711-03: ticari modülü referans alıp kendi tasarımının sayım doğruluğunu kıyasla.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CCII/VCII tabanlı akım-modlu ön-uç + kesirli filtreyi üç sensöre uyarla.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En az bir sensörde frekans/periyot tabanlı (kalibrasyonsuz) okuma kolu dene.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11. Çalışmanın Özgünlüğü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Kesirli filtreler literatürde çoğunlukla biyomedikal/teorik bağlamda çalışılmış.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 çalışmanın özgünlüğü: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Kesirli şekillendiriciyi FARKLI sensör sınıflarına (titreşim + foton) uygulamak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Ölçülebilir ölçütlerle (SNR, ENC, gecikme, pile-up, eleman sayısı) KARŞILAŞTIRMA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"Kesirli derece + PMT/foton sayma şekillendirme" kesişimi büyük ölçüde BOŞ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Ferri’nin akım/gerilim-modlu arayüzleriyle birleştirme — özgün köprü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Ticari referansa (H7711-03) karşı adil kıyas → yayınlanabilir katkı.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12. Plan — İş Paketleri ve Takvim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İP1 Kuram &amp; literatür  (Ay 1–3)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İP2 Sensör karakterizasyonu: LP252 / R6094-R6095 / H7711-03  (Ay 3–5)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İP3 Tasarım: klasik referans + kesirli (1+α) şekillendirici (CCII/OTA/FPAA)  (Ay 4–8)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İP4 Simülasyon: MATLAB (FOMCON)/Python + LTspice  (Ay 6–9)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İP5 Donanım &amp; doğrulama: gerçek sensörle SNR/ENC kıyası  (Ay 9–12)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İP6 Değerlendirme &amp; yazım: karşılaştırma matrisi, tez + makale  (Ay 11–14)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TÜBİTAK: 1001 (bilim), 1501/1507 (sanayi), 1512 BiGG (girişim).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13. Sonuç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temel kavramları, türleri, yaklaşımları ve formülasyonları açıklandı.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1./2./3. ve kesirli dereceden yapılar, topolojiler, duyarlılık ve SNR ele alındı.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+ sensör alanında güçlü isimler (Ferri, Psychalinos, Elwakil…) tanıtıldı.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Üç sensör ve deneysel olanaklar, özgünlük ve plan ortaya kondu.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Sonraki adım: İP1–İP2 (literatür matrisi + sensör karakterizasyonu).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Seçilmiş Kaynaklar (IEEE)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R. Schaumann, H. Xiao, M. E. Van Valkenburg, Design of Analog Filters, 2nd ed., Oxford, 2010.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A. B. Williams, F. J. Taylor, Electronic Filter Design Handbook, 4th ed., McGraw-Hill, 2006.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A. De Marcellis, G. Ferri, Analog Circuits and Systems for ... Sensor Interfacing, Springer, 2011.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A. De Marcellis, G. Ferri et al., "Uncalibrated op-amp-based sensor interface," IET CDS, 2015.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V. Stornelli, G. Ferri et al., "VCII-based stray insensitive interface...," Sensors 19(16):3545, 2019.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A. G. Radwan, A. M. Soliman, A. S. Elwakil, "First-order filters generalized to the fractional domain," JCSC, 2008.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G. Tsirimokou, C. Psychalinos, A. Elwakil, Design of CMOS ... Fractional-Order Circuits, Springer, 2017.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Hamamatsu R6094/R6095 (TPMH1382E) &amp; H7711; CTC LP252; ISO 20816-1:2016.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