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T.C. DOĞUŞ ÜNİVERSİTESİ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Lisansüstü Eğitim Enstitüsü — Elektrik-Elektronik Mühendisliği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EEM 537 – ANALOG FİLTRELER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Analog ve Kesirli Dereceden Filtreler:</a:t>
            </a:r>
          </a:p>
          <a:p>
            <a:pPr algn="ctr">
              <a:spcAft>
                <a:spcPts val="5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Sensör Sinyallerinin Koşullandırılması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Tez Hazırlık Sunumu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Hazırlayan: Selin AÇAR  (202591073001)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Danışman: Prof. Dr. Şahram MİNAYİ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İstanbul,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Sunum Planı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nedir? Temel kavramlar ve frekans bölgeleri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türleri (LPF / HPF / BPF / BSF / all-pass)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yaklaşımları: Butterworth, Chebyshev, Bessel, Eliptik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Transfer fonksiyonu ve dereceye göre yapılar (1. / 2. / 3.)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Kesirli dereceden filtreler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topolojileri, duyarlılık ve SNR/gürültü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Literatürde güçlü isimler — filtre + sensör (Ferri ve diğerleri)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İncelenen üç sensör, deneysel yaklaşım, özgünlük ve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1. Giriş ve Motivasyon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Sensör çıkışları genelde zayıf, gürültülü ve geniş bantlıdır.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Filtre = işaretin frekans bileşenlerini SEÇİCİ biçimde geçiren/zayıflatan devre.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Ölçüm zincirinde filtrenin görevleri: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İstenen bandı geçir, gürültüyü bastır → SNR (işaret/gürültü) artar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Darbe sensörlerinde işareti şekillendir (pulse shaping)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Sayısallaştırma (ADC) öncesi örtüşmeyi (aliasing) önle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50 Hz şebeke gibi belirli girişimleri çentik ile at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çalışma: klasik + kesirli filtreleri üç gerçek sensöre uygulamak.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2. Amaç, Araştırma Sorusu ve Hipotez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1A1A6A"/>
                </a:solidFill>
                <a:latin typeface="Calibri"/>
              </a:rPr>
              <a:t>Araştırma sorusu: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Bir sensör sinyalini temizlerken, kesirli dereceden bir analog filtre;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klasik filtrelere kıyasla "gürültüyü temizleme" ile "sinyalin şeklini koruma"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arasında daha iyi bir denge sağlar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1A1A6A"/>
                </a:solidFill>
                <a:latin typeface="Calibri"/>
              </a:rPr>
              <a:t>Hipotez (beklentim):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Kesirli filtrede süzme keskinliğini SÜREKLİ ayarlayabiliyorum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(örn. 1.5. derece gibi ara değerler mümkün).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Bu sayede, klasik bir filtreyle AYNI gürültü bastırmasını: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   • daha AZ devre elemanıyla, ve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   • sinyalin dalga şeklini daha az bozarak (daha düşük gecikme)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elde edebileceğimi düşünüyorum. Tez bunu deneyle sınayacak.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3. Filtre Nedir? Temel Kavramlar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Geçirme bandı (passband): filtrenin geçirdiği frekans aralığı.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Durdurma bandı (stopband): bastırdığı frekans aralığı.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Kesim frekansı (fc / ωc): geçirme ile durdurma arasındaki sınır;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genlik −3 dB’ye (gücün yarısına) düştüğü frekans.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Geçiş bölgesi: ikisi arasındaki eğimli kısım — dar olması istenir.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Söndürme eğimi: derece arttıkça dikleşir (−20·n dB/dekad).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Grup gecikmesi: frekansların ne kadar geciktiği; düz olması dalga şeklini korur.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3. Filtre Türleri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Alçak geçiren (LPF): düşük frekansları geçirir, yüksek frekanslı gürültüyü atar.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Yüksek geçiren (HPF): yüksek frekansları geçirir, DC kayması/çok düşük frekansı atar.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Bant geçiren (BPF): yalnızca belirli bir bandı geçirir (örn. haberleşme kanalı).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Bant söndüren / çentik (BSF): dar bir bandı atar (örn. 50 Hz şebeke girişimi).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Tüm geçiren (all-pass): genliği değiştirmez, yalnızca fazı/gecikmeyi düzenler.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"Filtre Yaklaşımı" Ne Demek?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İdeal filtre = "tuğla duvar": geçen bandı tam geçirir, gerisini anında keser.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fiziksel olarak GERÇEKLENEMEZ (sonsuz dik geçiş gerekir).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yüzden ideale matematiksel olarak YAKLAŞAN fonksiyonlar kullanılır.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Literatürdeki adı: "yaklaşım fonksiyonları" (filter approximation functions).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Her aile ideale FARKLI bir özelliği optimize ederek yaklaşır.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Dört klasik aile: Butterworth, Chebyshev, Bessel, Eliptik (Cauer).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Kısaca: "yaklaşım" = ideal filtreye hangi yöntemle/karakterle yaklaştığımızdır.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Butterworth ve Chebyshev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Butterworth — "maksimum düz": geçirme bandı dümdüz; geçiş yavaş.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Chebyshev I — daha keskin geçiş; ama geçirme bandında DALGA (ripple).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3767" y="2221992"/>
            <a:ext cx="10424160" cy="3425135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w_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2331720"/>
            <a:ext cx="10058400" cy="32056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848295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4055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ω  :  </a:t>
            </a:r>
            <a:r>
              <a:rPr sz="1500">
                <a:solidFill>
                  <a:srgbClr val="333333"/>
                </a:solidFill>
                <a:latin typeface="Calibri"/>
              </a:rPr>
              <a:t>açısal frekans (rad/s)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ω_c  :  </a:t>
            </a:r>
            <a:r>
              <a:rPr sz="1500">
                <a:solidFill>
                  <a:srgbClr val="333333"/>
                </a:solidFill>
                <a:latin typeface="Calibri"/>
              </a:rPr>
              <a:t>kesim açısal frekansı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n  :  </a:t>
            </a:r>
            <a:r>
              <a:rPr sz="1500">
                <a:solidFill>
                  <a:srgbClr val="333333"/>
                </a:solidFill>
                <a:latin typeface="Calibri"/>
              </a:rPr>
              <a:t>filtre derecesi (büyüdükçe geçiş dikleşir)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ε  :  </a:t>
            </a:r>
            <a:r>
              <a:rPr sz="1500">
                <a:solidFill>
                  <a:srgbClr val="333333"/>
                </a:solidFill>
                <a:latin typeface="Calibri"/>
              </a:rPr>
              <a:t>dalga/ripple parametresi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T_n  :  </a:t>
            </a:r>
            <a:r>
              <a:rPr sz="1500">
                <a:solidFill>
                  <a:srgbClr val="333333"/>
                </a:solidFill>
                <a:latin typeface="Calibri"/>
              </a:rPr>
              <a:t>n. derece Chebyshev polinomu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Bessel ve Eliptik (Cauer)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Bessel — "maksimum düz GECİKME": amaç dik geçiş değil, dalga şeklini korumak.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Grup gecikmesi düz → darbeler AŞMA (overshoot) olmadan geçer.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Bedeli: en yumuşak geçiş. Darbe sensörleri (PMT) için idealdir.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Eliptik (Cauer) — "en keskin geçiş": en az derece ile en dik kesim.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Bedeli: HEM geçirme HEM durdurma bandında dalga + en kötü gecikme.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Çok dar geçiş gereken (dar kanal ayırma) yerlerde tercih edilir.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Özet sezgi: Bessel = en iyi ZAMAN davranışı (dalga şekli);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Eliptik = en iyi FREKANS davranışı (keskinlik). İkisi zıt uçlardır.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Yaklaşım Aileleri — Karşılaştırma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286000"/>
                <a:gridCol w="2194560"/>
                <a:gridCol w="228600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Aile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Genlik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Geçiş keskinliği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Zaman/dalga şekli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Tipik kullanım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Butterworth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maksimum düz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orta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iyi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genel amaç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Chebyshev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geçişte dalga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yüksek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kötü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keskinlik gerekince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Bessel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yumuşak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düşük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İYİ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darbe / PMT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Eliptik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her iki bantta dalga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YÜKSEK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kötü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dar kanal ayırma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Transfer Fonksiyonu ve Derece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261872"/>
            <a:ext cx="9966960" cy="2407964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371600"/>
            <a:ext cx="9601200" cy="21885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871004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36764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H(s)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filtrenin giriş→çıkış kazanç fonksiyonu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 (s = σ + jω)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N(s)  :  </a:t>
            </a:r>
            <a:r>
              <a:rPr sz="1700">
                <a:solidFill>
                  <a:srgbClr val="333333"/>
                </a:solidFill>
                <a:latin typeface="Calibri"/>
              </a:rPr>
              <a:t>pay polinomu — kökleri "sıfırlar"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D(s)  :  </a:t>
            </a:r>
            <a:r>
              <a:rPr sz="1700">
                <a:solidFill>
                  <a:srgbClr val="333333"/>
                </a:solidFill>
                <a:latin typeface="Calibri"/>
              </a:rPr>
              <a:t>payda polinomu — kökleri "kutuplar"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n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 derecesi → eğim = −20·n dB/dekad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Birinci Dereceden Filtre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1307592"/>
            <a:ext cx="10881360" cy="1430752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417320"/>
            <a:ext cx="10515600" cy="1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985232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0992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ω_c  :  </a:t>
            </a:r>
            <a:r>
              <a:rPr sz="1700">
                <a:solidFill>
                  <a:srgbClr val="333333"/>
                </a:solidFill>
                <a:latin typeface="Calibri"/>
              </a:rPr>
              <a:t>kesim açısal frekansı (rad/s)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R  :  </a:t>
            </a:r>
            <a:r>
              <a:rPr sz="1700">
                <a:solidFill>
                  <a:srgbClr val="333333"/>
                </a:solidFill>
                <a:latin typeface="Calibri"/>
              </a:rPr>
              <a:t>direnç (ohm)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C  :  </a:t>
            </a:r>
            <a:r>
              <a:rPr sz="1700">
                <a:solidFill>
                  <a:srgbClr val="333333"/>
                </a:solidFill>
                <a:latin typeface="Calibri"/>
              </a:rPr>
              <a:t>kapasite (farad)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Tek kutuplu en yalın yapı: eğim −20 dB/dek, kesimde faz −45°.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İkinci Dereceden Filtre (Biquad)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261872"/>
            <a:ext cx="9966960" cy="2842699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371600"/>
            <a:ext cx="9601200" cy="26232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305739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7149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ω_0  :  </a:t>
            </a:r>
            <a:r>
              <a:rPr sz="1700">
                <a:solidFill>
                  <a:srgbClr val="333333"/>
                </a:solidFill>
                <a:latin typeface="Calibri"/>
              </a:rPr>
              <a:t>doğal (köşe) açısal frekans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Q  :  </a:t>
            </a:r>
            <a:r>
              <a:rPr sz="1700">
                <a:solidFill>
                  <a:srgbClr val="333333"/>
                </a:solidFill>
                <a:latin typeface="Calibri"/>
              </a:rPr>
              <a:t>kalite faktörü — rezonansın keskinliği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ζ  :  </a:t>
            </a:r>
            <a:r>
              <a:rPr sz="1700">
                <a:solidFill>
                  <a:srgbClr val="333333"/>
                </a:solidFill>
                <a:latin typeface="Calibri"/>
              </a:rPr>
              <a:t>sönüm oranı (Q ile ters orantılı)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Karmaşık eşlenik kutup çifti → keskin geçiş ve rezonans.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Yüksek dereceli filtreler bu 2. derece blokların kaskadıyla kurulur.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Üçüncü Dereceden Filtre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307592"/>
            <a:ext cx="9966960" cy="3003113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417320"/>
            <a:ext cx="9601200" cy="2783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557593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23353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ω_a  :  </a:t>
            </a:r>
            <a:r>
              <a:rPr sz="1700">
                <a:solidFill>
                  <a:srgbClr val="333333"/>
                </a:solidFill>
                <a:latin typeface="Calibri"/>
              </a:rPr>
              <a:t>reel (tek) kutbun frekansı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ω_0, Q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kutup çiftinin frekansı ve kalite faktörü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j  :  </a:t>
            </a:r>
            <a:r>
              <a:rPr sz="1700">
                <a:solidFill>
                  <a:srgbClr val="333333"/>
                </a:solidFill>
                <a:latin typeface="Calibri"/>
              </a:rPr>
              <a:t>sanal birim (√−1)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1 reel kutup + 1 karmaşık çift = 3. derece, eğim −60 dB/dek.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Kaskad yaklaşımı duyarlılığı düşürür (her blok ayrı ayarlanır).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6. Kesirli Dereceden Filtreler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883767" y="1216152"/>
            <a:ext cx="10424160" cy="5134281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r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325880"/>
            <a:ext cx="10058400" cy="49148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505881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871641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derece, 0 &lt; α &lt; 1 (eğim −20α dB/dek)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C_α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kapasite / "fractance"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τ  :  </a:t>
            </a:r>
            <a:r>
              <a:rPr sz="1400">
                <a:solidFill>
                  <a:srgbClr val="333333"/>
                </a:solidFill>
                <a:latin typeface="Calibri"/>
              </a:rPr>
              <a:t>zaman sabiti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s^α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mertebeden türev operatörü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w  :  </a:t>
            </a:r>
            <a:r>
              <a:rPr sz="1400">
                <a:solidFill>
                  <a:srgbClr val="333333"/>
                </a:solidFill>
                <a:latin typeface="Calibri"/>
              </a:rPr>
              <a:t>kararlılık için s^α dönüşümü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A1A6A"/>
                </a:solidFill>
                <a:latin typeface="Calibri"/>
              </a:rPr>
              <a:t>Yenilik: dereceyi SÜREKLİ seçebilmek → "ihtiyaca uygun" eğim ve faz.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7. Filtre Topolojileri (Gerçekleme Yapıları)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Aynı transfer fonksiyonu farklı devre yapılarıyla (topoloji) kurulabilir: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Pasif (R, L, C): dış güç yok, çok düşük gürültü; ama kazanç &lt; 1 ve bobin hacimli.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Sallen-Key: tek op-amp ile 2. derece blok; kurması kolay, düşük Q için ideal.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Çok geri beslemeli (MFB): tek op-amp, ters çevirir; yüksek frekansta daha iyi davranır.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KHN / durum-değişkenli: 2-3 op-amp; aynı anda LPF+HPF+BPF verir, yüksek Q, DÜŞÜK duyarlılık.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Tow-Thomas: 3 op-amp; ωₒ ve Q’yu BAĞIMSIZ ayarlama, üretime karşı sağlam.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Akım/gerilim-modlu (OTA-C, CCII, VCII): op-amp yerine akım taşıyıcı; elektronik ayarlı,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–  düşük güç; kesirli dereceden filtreler için en uygun yapı (Ferri ekolü).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7. Duyarlılık (Sensitivity)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1798167" y="1261872"/>
            <a:ext cx="8595360" cy="2783451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2563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246491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12251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S_x^H  :  </a:t>
            </a:r>
            <a:r>
              <a:rPr sz="1700">
                <a:solidFill>
                  <a:srgbClr val="333333"/>
                </a:solidFill>
                <a:latin typeface="Calibri"/>
              </a:rPr>
              <a:t>x bileşenindeki değişimin H’ye göreli etkisi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x  :  </a:t>
            </a:r>
            <a:r>
              <a:rPr sz="1700">
                <a:solidFill>
                  <a:srgbClr val="333333"/>
                </a:solidFill>
                <a:latin typeface="Calibri"/>
              </a:rPr>
              <a:t>devre elemanı (R, C, kazanç…)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H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filtrenin transfer fonksiyonu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∂/∂x  :  </a:t>
            </a:r>
            <a:r>
              <a:rPr sz="1700">
                <a:solidFill>
                  <a:srgbClr val="333333"/>
                </a:solidFill>
                <a:latin typeface="Calibri"/>
              </a:rPr>
              <a:t>kısmi türev (küçük değişim oranı)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1A1A6A"/>
                </a:solidFill>
                <a:latin typeface="Calibri"/>
              </a:rPr>
              <a:t>•  Düşük duyarlılık = üretim toleransı/sıcaklığa karşı sağlam tasarım.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1A1A6A"/>
                </a:solidFill>
                <a:latin typeface="Calibri"/>
              </a:rPr>
              <a:t>•  Sallen-Key yüksek Q’da duyarlı; KHN ("insensitive") çok düşük duyarlılık verir.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8. Gürültü ve SNR Hesapları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1170432"/>
            <a:ext cx="10881360" cy="4708186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80160"/>
            <a:ext cx="10515600" cy="44887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34066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99826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k, T, R  :  </a:t>
            </a:r>
            <a:r>
              <a:rPr sz="1400">
                <a:solidFill>
                  <a:srgbClr val="333333"/>
                </a:solidFill>
                <a:latin typeface="Calibri"/>
              </a:rPr>
              <a:t>Boltzmann sabiti, sıcaklık (K), direnç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Δf  :  </a:t>
            </a:r>
            <a:r>
              <a:rPr sz="1400">
                <a:solidFill>
                  <a:srgbClr val="333333"/>
                </a:solidFill>
                <a:latin typeface="Calibri"/>
              </a:rPr>
              <a:t>bant genişliği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q, I  :  </a:t>
            </a:r>
            <a:r>
              <a:rPr sz="1400">
                <a:solidFill>
                  <a:srgbClr val="333333"/>
                </a:solidFill>
                <a:latin typeface="Calibri"/>
              </a:rPr>
              <a:t>elektron yükü, akım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P_sinyal / P_n  :  </a:t>
            </a:r>
            <a:r>
              <a:rPr sz="1400">
                <a:solidFill>
                  <a:srgbClr val="333333"/>
                </a:solidFill>
                <a:latin typeface="Calibri"/>
              </a:rPr>
              <a:t>işaret / gürültü gücü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in / out  :  </a:t>
            </a:r>
            <a:r>
              <a:rPr sz="1400">
                <a:solidFill>
                  <a:srgbClr val="333333"/>
                </a:solidFill>
                <a:latin typeface="Calibri"/>
              </a:rPr>
              <a:t>giriş / çıkış (NF için)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τ  :  </a:t>
            </a:r>
            <a:r>
              <a:rPr sz="1400">
                <a:solidFill>
                  <a:srgbClr val="333333"/>
                </a:solidFill>
                <a:latin typeface="Calibri"/>
              </a:rPr>
              <a:t>şekillendirme zaman sabiti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ENC  :  </a:t>
            </a:r>
            <a:r>
              <a:rPr sz="1400">
                <a:solidFill>
                  <a:srgbClr val="333333"/>
                </a:solidFill>
                <a:latin typeface="Calibri"/>
              </a:rPr>
              <a:t>eşdeğer gürültü yükü (dedektör SNR ölçütü)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Klasik Filtre Kuramında Önemli İsimler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S. Butterworth (1930) — maksimum düz genlik yaklaşımı.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P. Chebyshev / W. Cauer — Chebyshev ve eliptik yaklaşımlar, ağ sentezi.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W. E. Thomson (1949) — Bessel (maksimum düz gecikme) filtreler.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R. P. Sallen &amp; E. L. Key (1955) — pratik aktif RC filtre topolojisi.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Kerwin–Huelsman–Newcomb (1967) — düşük duyarlılıklı KHN biquad.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A. Oustaloup, I. Podlubny — kesirli kalkülüs ve s^α sentezi.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Filtre + Sensör Alanında Güçlü İsimler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Giuseppe Ferri (L’Aquila, İtalya): akım/gerilim-modlu (CCII/VCII) sensör arayüzleri.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Costas Psychalinos (Patras, Yunanistan): kesirli dereceden filtreler, düşük-gerilim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–  biyomedikal sinyal işleme (EKG/EEG).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Ahmed S. Elwakil (Sharjah): kesirli dereceden devreler ve biyo-empedans modelleme.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Ahmed G. Radwan (Kahire): kesirli dereceden filtrelerin kuramsal temeli.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Todd J. Freeborn (Alabama, ABD): kesirli biyo-empedans / dedektör modelleme.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Bu isimler "kesirli filtre + sensör/biyosinyal" kesişiminin çekirdeğidir.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Örnek: Giuseppe Ferri — İlgili Makaleler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Ferri’nin çizgisi: işareti AKIM alanında işle; kalibrasyonsuz/düşük-güç oku.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Tezime uygun iki örnek çalışma: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[A] A. De Marcellis, G. Ferri ve ark., "Uncalibrated op-amp-based sensor interface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for capacitive/resistive sensors," IET Circuits, Devices &amp; Syst., 2015.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→ empedansı PERİYODA çevirir (frekans-tabanlı, kalibrasyonsuz okuma).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[B] V. Stornelli, G. Ferri ve ark., "A VCII-Based Stray Insensitive Analog Interface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for Differential Capacitance Sensors," Sensors, 19(16):3545, 2019.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→ VCII ile kaçak-bağışık, sade ve hassas sensör arayüzü.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Neden uygun: 4-20 mA (akım), PMT (akım darbesi) ve foton sayma (frekans)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sensörlerim Ferri’nin akım-modu + frekans-okuma yaklaşımına birebir oturur.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İncelenen Üç Sensör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CTC LP252 — 4-20 mA titreşim (hız) transmitteri: 0–1.0 IPS RMS, 10–1000 Hz; ISO 20816.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Hamamatsu R6094/R6095 — PMT: 28 mm, bialkali, 300–650 nm; anot AKIM darbeleri.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Hamamatsu H7711-03 — foton sayma kafası: HV+amp+diskriminatör; TTL DARBE (frekans).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63240"/>
            <a:ext cx="2651760" cy="2651760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x_lp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256032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97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1A1A6A"/>
                </a:solidFill>
                <a:latin typeface="Calibri"/>
              </a:rPr>
              <a:t>CTC LP252  (4-20 mA, akım)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73168" y="3063240"/>
            <a:ext cx="2651760" cy="2651760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x_pm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3108960"/>
            <a:ext cx="2560320" cy="2560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27448" y="5897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1A1A6A"/>
                </a:solidFill>
                <a:latin typeface="Calibri"/>
              </a:rPr>
              <a:t>R6094/R6095  (PMT, akım darbesi)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51392" y="3063240"/>
            <a:ext cx="2651760" cy="2651760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x_h7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7112" y="3108960"/>
            <a:ext cx="2560320" cy="256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05672" y="5897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1A1A6A"/>
                </a:solidFill>
                <a:latin typeface="Calibri"/>
              </a:rPr>
              <a:t>H7711-03  (foton sayma, TTL)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(Görseller şematik temsildir; ürün fotoğrafları/datasheet için kaynakçaya bk.)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Deneysel Olarak Yapılabilecekler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LP252: 4-20 mA RMS bandı dışında kHz zarf-analizi filtre kolu; SNR kazancı ölçümü.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R6094/R6095: ham şekillendirici (CR-RC, Bessel vs. kesirli) tasarla ve karşılaştır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(gürültü-bant genişliği, gecikme, darbe yığılması/pile-up).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H7711-03: ticari modülü referans alıp kendi tasarımının sayım doğruluğunu kıyasla.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CCII/VCII tabanlı akım-modlu ön-uç + kesirli filtreyi üç sensöre uyarla.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En az bir sensörde frekans/periyot tabanlı (kalibrasyonsuz) okuma kolu dene.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11. Çalışmanın Özgünlüğü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Kesirli filtreler literatürde çoğunlukla biyomedikal/teorik bağlamda çalışılmış.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çalışmanın özgünlüğü: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Kesirli şekillendiriciyi FARKLI sensör sınıflarına (titreşim + foton) uygulamak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Ölçülebilir ölçütlerle (SNR, ENC, gecikme, pile-up, eleman sayısı) KARŞILAŞTIRMA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"Kesirli derece + PMT/foton sayma şekillendirme" kesişimi büyük ölçüde BOŞ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Ferri’nin akım/gerilim-modlu arayüzleriyle birleştirme — özgün köprü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Ticari referansa (H7711-03) karşı adil kıyas → yayınlanabilir katkı.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12. Plan — İş Paketleri ve Takvim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İP1 Kuram &amp; literatür  (Ay 1–3)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İP2 Sensör karakterizasyonu: LP252 / R6094-R6095 / H7711-03  (Ay 3–5)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İP3 Tasarım: klasik referans + kesirli (1+α) şekillendirici (CCII/OTA/FPAA)  (Ay 4–8)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İP4 Simülasyon: MATLAB (FOMCON)/Python + LTspice  (Ay 6–9)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İP5 Donanım &amp; doğrulama: gerçek sensörle SNR/ENC kıyası  (Ay 9–12)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İP6 Değerlendirme &amp; yazım: karşılaştırma matrisi, tez + makale  (Ay 11–14)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TÜBİTAK: 1001 (bilim), 1501/1507 (sanayi), 1512 BiGG (girişim).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13. 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temel kavramları, türleri, yaklaşımları ve formülasyonları açıklandı.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1./2./3. ve kesirli dereceden yapılar, topolojiler, duyarlılık ve SNR ele alındı.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+ sensör alanında güçlü isimler (Ferri, Psychalinos, Elwakil…) tanıtıldı.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Üç sensör ve deneysel olanaklar, özgünlük ve plan ortaya kondu.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Sonraki adım: İP1–İP2 (literatür matrisi + sensör karakterizasyonu).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Kaynaklar (1/2) — 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[1] S. Butterworth, "On the theory of filter amplifiers," Exp. Wireless Wireless Eng., vol. 7, pp. 536–541, 1930.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[2] W. E. Thomson, "Delay networks having maximally flat frequency characteristics," Proc. IEE - Part III, vol. 96, no. 44, pp. 487–490, 1949.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[3] R. P. Sallen and E. L. Key, "A practical method of designing RC active filters," IRE Trans. Circuit Theory, vol. 2, no. 1, pp. 74–85, Mar. 1955.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[4] W. J. Kerwin, L. P. Huelsman, and R. W. Newcomb, "State-variable synthesis for insensitive integrated circuit transfer functions," IEEE J. Solid-State Circuits, vol. 2, no. 3, pp. 87–92, 1967.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[5] A. B. Williams and F. J. Taylor, Electronic Filter Design Handbook, 4th ed. New York: McGraw-Hill, 2006.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[6] R. Schaumann, H. Xiao, and M. E. Van Valkenburg, Design of Analog Filters, 2nd ed. New York: Oxford Univ. Press, 2010.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[7] A. S. Sedra and K. C. Smith, Microelectronic Circuits, 7th ed. New York: Oxford Univ. Press, 2015.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[8] B. Razavi, Design of Analog CMOS Integrated Circuits, 2nd ed. New York: McGraw-Hill, 2017.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[9] I. Podlubny, Fractional Differential Equations. San Diego: Academic Press, 1999.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[10] A. Oustaloup, F. Levron, B. Mathieu, and F. M. Nanot, "Frequency-band complex noninteger differentiator," IEEE Trans. Circuits Syst. I, vol. 47, no. 1, pp. 25–39, 2000.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Kaynaklar (2/2) — 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[11] A. G. Radwan, A. M. Soliman, and A. S. Elwakil, "First-order filters generalized to the fractional domain," J. Circuits Syst. Comput., vol. 17, no. 1, pp. 55–66, 2008.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[12] T. J. Freeborn, "A survey of fractional-order circuit models for biology and biomedicine," IEEE J. Emerg. Sel. Topics Circuits Syst., vol. 3, no. 3, pp. 416–424, 2013.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[13] G. Tsirimokou, C. Psychalinos, and A. Elwakil, Design of CMOS Analog Integrated Fractional-Order Circuits. Cham: Springer, 2017.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[14] C. I. Muresan et al., "A review of recent advances in fractional-order sensing and filtering techniques," Sensors, vol. 21, no. 17, art. 5920, 2021.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[15] A. De Marcellis and G. Ferri, Analog Circuits and Systems for Voltage-Mode and Current-Mode Sensor Interfacing Applications. Dordrecht: Springer, 2011.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[16] A. De Marcellis, G. Ferri et al., "Uncalibrated operational amplifier-based sensor interface for capacitive/resistive sensor applications," IET Circuits, Devices &amp; Syst., vol. 9, no. 4, pp. 249–255, 2015.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[17] V. Stornelli, G. Ferri et al., "A VCII-based stray insensitive analog interface for differential capacitance sensors," Sensors, vol. 19, no. 16, art. 3545, 2019.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[18] G. F. Knoll, Radiation Detection and Measurement, 4th ed. Hoboken: Wiley, 2010.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[19] Hamamatsu Photonics K.K., "Photomultiplier tubes R6094, R6095," datasheet TPMH1382E, 2020; "Photon counting head H7711 series," datasheet.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[20] Connection Technology Center, "LP252 loop power velocity vibration sensor (4–20 mA)," datasheet; ISO 20816-1:2016.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